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45720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9AD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AERONAUTICAL INFORMATICS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Avio23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9AD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 Teaching Platform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every partition has its turn.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5120640"/>
            <a:ext cx="45720" cy="109728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51206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apl. Prof. Dr.-Ing. Umut Durak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AD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DLR Institute of Flight Systems · TU Clausthal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WHY IMA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avionics software runs today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51206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109728" cy="4023360"/>
          </a:xfrm>
          <a:prstGeom prst="rect">
            <a:avLst/>
          </a:prstGeom>
          <a:solidFill>
            <a:srgbClr val="D5DDE8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94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Pre-IMA (federated)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27889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LRU per function. Dozens of boxes. Each owns its CPU, wiring, certification.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2011680"/>
            <a:ext cx="51206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2011680"/>
            <a:ext cx="109728" cy="4023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194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 (today)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29400" y="27889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shared CPMs hosting many partitions. Shared CPU, shared bus, isolated logic.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cockpit software (A350, B787, E2, Global) runs the right column.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6355080"/>
            <a:ext cx="11091672" cy="9144"/>
          </a:xfrm>
          <a:prstGeom prst="rect">
            <a:avLst/>
          </a:prstGeom>
          <a:solidFill>
            <a:srgbClr val="D5DDE8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Avio23  ·  Aeronautical Informatics  ·  DLR / TU Clausthal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WHAT IMA PROVIDES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properties certification depends 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09728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194560" y="217627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partitioning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194560" y="2651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partition cannot corrupt another partition's memory. Hardware-enforced isolation.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520440"/>
            <a:ext cx="109728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20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194560" y="359359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partitioning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194560" y="4069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partition cannot steal another partition's CPU time. Static schedule, hard guarantees.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937760"/>
            <a:ext cx="1097280" cy="109728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937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194560" y="501091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schedule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194560" y="5486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partition runs at known times every frame. Timing analysable, hard real-time.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6355080"/>
            <a:ext cx="11091672" cy="9144"/>
          </a:xfrm>
          <a:prstGeom prst="rect">
            <a:avLst/>
          </a:prstGeom>
          <a:solidFill>
            <a:srgbClr val="D5DDE8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Avio23  ·  Aeronautical Informatics  ·  DLR / TU Clausthal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STANDARD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ARINC 653 in one slide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1168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955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isolated application with its own memory and its own scheduled time slot.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frame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repeating period (40 ms in Avio23) that contains one slot for every partition.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window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partition's (offset, duration) inside the major frame.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Sampling 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One-way mailbox; latest-value semantics; no queue.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Queueing 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One-way FIFO; messages preserved in order.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monitor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Watchdog that escalates partition faults.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sampling ports today — perfect for periodic sensor data.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6355080"/>
            <a:ext cx="11091672" cy="9144"/>
          </a:xfrm>
          <a:prstGeom prst="rect">
            <a:avLst/>
          </a:prstGeom>
          <a:solidFill>
            <a:srgbClr val="D5DDE8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Avio23  ·  Aeronautical Informatics  ·  DLR / TU Clausthal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Avio23 — 5 nodes, 14 partitions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120640" y="2011680"/>
            <a:ext cx="2286000" cy="82296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0" y="2011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sim_gateway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IOM · 172.20.0.2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2834640"/>
            <a:ext cx="0" cy="640080"/>
          </a:xfrm>
          <a:prstGeom prst="line">
            <a:avLst/>
          </a:prstGeom>
          <a:noFill/>
          <a:ln w="25400">
            <a:solidFill>
              <a:srgbClr val="0F1B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3474720"/>
            <a:ext cx="9418320" cy="0"/>
          </a:xfrm>
          <a:prstGeom prst="line">
            <a:avLst/>
          </a:prstGeom>
          <a:noFill/>
          <a:ln w="25400">
            <a:solidFill>
              <a:srgbClr val="0F1B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3474720"/>
            <a:ext cx="0" cy="457200"/>
          </a:xfrm>
          <a:prstGeom prst="line">
            <a:avLst/>
          </a:prstGeom>
          <a:noFill/>
          <a:ln w="25400">
            <a:solidFill>
              <a:srgbClr val="0F1B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3931920"/>
            <a:ext cx="21945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3931920"/>
            <a:ext cx="21945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931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CPM-L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434340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Gear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172.20.0.3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3474720"/>
            <a:ext cx="0" cy="457200"/>
          </a:xfrm>
          <a:prstGeom prst="line">
            <a:avLst/>
          </a:prstGeom>
          <a:noFill/>
          <a:ln w="25400">
            <a:solidFill>
              <a:srgbClr val="0F1B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0" y="3931920"/>
            <a:ext cx="21945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3931920"/>
            <a:ext cx="219456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3931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CPM-F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434340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172.20.0.4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680960" y="3474720"/>
            <a:ext cx="0" cy="457200"/>
          </a:xfrm>
          <a:prstGeom prst="line">
            <a:avLst/>
          </a:prstGeom>
          <a:noFill/>
          <a:ln w="25400">
            <a:solidFill>
              <a:srgbClr val="0F1B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931920"/>
            <a:ext cx="21945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3931920"/>
            <a:ext cx="21945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931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CPM-A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434340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172.20.0.5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424160" y="3474720"/>
            <a:ext cx="0" cy="457200"/>
          </a:xfrm>
          <a:prstGeom prst="line">
            <a:avLst/>
          </a:prstGeom>
          <a:noFill/>
          <a:ln w="25400">
            <a:solidFill>
              <a:srgbClr val="0F1B2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0" y="3931920"/>
            <a:ext cx="21945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26880" y="3931920"/>
            <a:ext cx="21945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0" y="3931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CPM-E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418320" y="434340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172.20.0.6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B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" y="5760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box is a Docker container running its own a653rs-linux hypervisor.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6035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talk over a virtual AFDX network (UDP on a Docker bridge).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6355080"/>
            <a:ext cx="11091672" cy="9144"/>
          </a:xfrm>
          <a:prstGeom prst="rect">
            <a:avLst/>
          </a:prstGeom>
          <a:solidFill>
            <a:srgbClr val="D5DDE8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Avio23  ·  Aeronautical Informatics  ·  DLR / TU Clausthal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SCHEDULE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one CPM — the 40 ms major frame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77440"/>
            <a:ext cx="802386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80238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8023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D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33906" y="2377440"/>
            <a:ext cx="534924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33906" y="2377440"/>
            <a:ext cx="5349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fuel_qty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33906" y="3337560"/>
            <a:ext cx="534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D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68830" y="2377440"/>
            <a:ext cx="534924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68830" y="2377440"/>
            <a:ext cx="5349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transfer_pump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68830" y="3337560"/>
            <a:ext cx="534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D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03754" y="2377440"/>
            <a:ext cx="8826246" cy="1005840"/>
          </a:xfrm>
          <a:prstGeom prst="rect">
            <a:avLst/>
          </a:prstGeom>
          <a:solidFill>
            <a:srgbClr val="D5DDE8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3754" y="2377440"/>
            <a:ext cx="88262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margin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03754" y="3337560"/>
            <a:ext cx="88262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ms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3383280"/>
            <a:ext cx="0" cy="137160"/>
          </a:xfrm>
          <a:prstGeom prst="line">
            <a:avLst/>
          </a:prstGeom>
          <a:noFill/>
          <a:ln w="12700">
            <a:solidFill>
              <a:srgbClr val="0F1B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5478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0ms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06140" y="3383280"/>
            <a:ext cx="0" cy="137160"/>
          </a:xfrm>
          <a:prstGeom prst="line">
            <a:avLst/>
          </a:prstGeom>
          <a:noFill/>
          <a:ln w="12700">
            <a:solidFill>
              <a:srgbClr val="0F1B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40380" y="35478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80760" y="3383280"/>
            <a:ext cx="0" cy="137160"/>
          </a:xfrm>
          <a:prstGeom prst="line">
            <a:avLst/>
          </a:prstGeom>
          <a:noFill/>
          <a:ln w="12700">
            <a:solidFill>
              <a:srgbClr val="0F1B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35478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755380" y="3383280"/>
            <a:ext cx="0" cy="137160"/>
          </a:xfrm>
          <a:prstGeom prst="line">
            <a:avLst/>
          </a:prstGeom>
          <a:noFill/>
          <a:ln w="12700">
            <a:solidFill>
              <a:srgbClr val="0F1B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9620" y="35478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1430000" y="3383280"/>
            <a:ext cx="0" cy="137160"/>
          </a:xfrm>
          <a:prstGeom prst="line">
            <a:avLst/>
          </a:prstGeom>
          <a:noFill/>
          <a:ln w="12700">
            <a:solidFill>
              <a:srgbClr val="0F1B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064240" y="35478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40ms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4206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ms idle is intentional — headroom for the partition you will add.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49377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repeating, deterministic.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partition gets exactly one window per frame. Misses are catastrophic.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48640" y="6355080"/>
            <a:ext cx="11091672" cy="9144"/>
          </a:xfrm>
          <a:prstGeom prst="rect">
            <a:avLst/>
          </a:prstGeom>
          <a:solidFill>
            <a:srgbClr val="D5DDE8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Avio23  ·  Aeronautical Informatics  ·  DLR / TU Clausthal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INTER-PARTITION COMMS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ports across CPMs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22860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743200"/>
            <a:ext cx="228600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sensor_partition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CPM-X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0" y="2743200"/>
            <a:ext cx="22860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743200"/>
            <a:ext cx="228600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749040" y="30632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cpm_x_gateway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AFDX TX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2743200"/>
            <a:ext cx="22860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743200"/>
            <a:ext cx="228600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675120" y="30632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cpm_y_gateway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AFDX RX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509760" y="2743200"/>
            <a:ext cx="22860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09760" y="2743200"/>
            <a:ext cx="228600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601200" y="30632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consumer_part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CPM-Y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017520" y="3291840"/>
            <a:ext cx="640080" cy="0"/>
          </a:xfrm>
          <a:prstGeom prst="line">
            <a:avLst/>
          </a:prstGeom>
          <a:noFill/>
          <a:ln w="38100">
            <a:solidFill>
              <a:srgbClr val="F2A65A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2834640" y="3520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port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0" y="3291840"/>
            <a:ext cx="640080" cy="0"/>
          </a:xfrm>
          <a:prstGeom prst="line">
            <a:avLst/>
          </a:prstGeom>
          <a:noFill/>
          <a:ln w="38100">
            <a:solidFill>
              <a:srgbClr val="F2A65A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760720" y="3520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over AFDX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869680" y="3291840"/>
            <a:ext cx="640080" cy="0"/>
          </a:xfrm>
          <a:prstGeom prst="line">
            <a:avLst/>
          </a:prstGeom>
          <a:noFill/>
          <a:ln w="38100">
            <a:solidFill>
              <a:srgbClr val="F2A65A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8686800" y="3520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port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4754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CPM:</a:t>
            </a:r>
            <a:pPr indent="0" marL="0">
              <a:buNone/>
            </a:pPr>
            <a:r>
              <a:rPr lang="en-US" sz="1400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ports are shared memory.</a:t>
            </a:r>
            <a:pPr indent="0" marL="0">
              <a:buNone/>
            </a:pPr>
            <a:r>
              <a:rPr lang="en-US" sz="1400" dirty="0">
                <a:solidFill>
                  <a:srgbClr val="D5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CPMs:</a:t>
            </a:r>
            <a:pPr indent="0" marL="0">
              <a:buNone/>
            </a:pPr>
            <a:r>
              <a:rPr lang="en-US" sz="1400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gateways serialize port content to UDP.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code is identical in both cases — that is the whole point.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6355080"/>
            <a:ext cx="11091672" cy="9144"/>
          </a:xfrm>
          <a:prstGeom prst="rect">
            <a:avLst/>
          </a:prstGeom>
          <a:solidFill>
            <a:srgbClr val="D5DDE8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Avio23  ·  Aeronautical Informatics  ·  DLR / TU Clausthal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DOMAINS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domain CPMs and what they do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10698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743200"/>
                <a:gridCol w="1097280"/>
                <a:gridCol w="5394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CPM-L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Gear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Gear lever, braking, steering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2A6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CPM-F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quantity, transfer pumps, balance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CPM-A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ECS / Air Conditioning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Bleed air, cabin temperature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CPM-E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Electrical / Energy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Generators, load shedding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solidFill>
            <a:srgbClr val="0F1B2C"/>
          </a:solidFill>
          <a:ln w="12700">
            <a:solidFill>
              <a:srgbClr val="0F1B2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54406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everyone works in CPM-F. 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9AD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C — fuel loss leads to engine starvation, not direct loss of aircraft.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6355080"/>
            <a:ext cx="11091672" cy="9144"/>
          </a:xfrm>
          <a:prstGeom prst="rect">
            <a:avLst/>
          </a:prstGeom>
          <a:solidFill>
            <a:srgbClr val="D5DDE8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Avio23  ·  Aeronautical Informatics  ·  DLR / TU Clausthal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ZOOM: CPM-F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partitions on one Fuel CPM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0" y="2011680"/>
            <a:ext cx="384048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0" y="20116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cpm_f_gateway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D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to/from AFDX network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2788920"/>
            <a:ext cx="0" cy="365760"/>
          </a:xfrm>
          <a:prstGeom prst="line">
            <a:avLst/>
          </a:prstGeom>
          <a:noFill/>
          <a:ln w="25400">
            <a:solidFill>
              <a:srgbClr val="0F1B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3154680"/>
            <a:ext cx="9418320" cy="0"/>
          </a:xfrm>
          <a:prstGeom prst="line">
            <a:avLst/>
          </a:prstGeom>
          <a:noFill/>
          <a:ln w="25400">
            <a:solidFill>
              <a:srgbClr val="0F1B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3154680"/>
            <a:ext cx="0" cy="411480"/>
          </a:xfrm>
          <a:prstGeom prst="line">
            <a:avLst/>
          </a:prstGeom>
          <a:noFill/>
          <a:ln w="25400">
            <a:solidFill>
              <a:srgbClr val="0F1B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566160"/>
            <a:ext cx="201168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3566160"/>
            <a:ext cx="201168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fuel_quantity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397764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(reference)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3154680"/>
            <a:ext cx="0" cy="411480"/>
          </a:xfrm>
          <a:prstGeom prst="line">
            <a:avLst/>
          </a:prstGeom>
          <a:noFill/>
          <a:ln w="25400">
            <a:solidFill>
              <a:srgbClr val="0F1B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0" y="3566160"/>
            <a:ext cx="201168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0" y="3566160"/>
            <a:ext cx="201168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transfer_pump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397764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(reference)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3154680"/>
            <a:ext cx="0" cy="411480"/>
          </a:xfrm>
          <a:prstGeom prst="line">
            <a:avLst/>
          </a:prstGeom>
          <a:noFill/>
          <a:ln w="25400">
            <a:solidFill>
              <a:srgbClr val="0F1B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3566160"/>
            <a:ext cx="2011680" cy="1645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2A6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3566160"/>
            <a:ext cx="2011680" cy="32004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fuel_controller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0" y="397764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YOU BUILD THIS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064240" y="3154680"/>
            <a:ext cx="0" cy="411480"/>
          </a:xfrm>
          <a:prstGeom prst="line">
            <a:avLst/>
          </a:prstGeom>
          <a:noFill/>
          <a:ln w="25400">
            <a:solidFill>
              <a:srgbClr val="0F1B2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0" y="3566160"/>
            <a:ext cx="201168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0" y="3566160"/>
            <a:ext cx="201168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(spare slot)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149840" y="397764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configure its slot in cpm_f.yaml, then implement select_source_tank in controller.rs.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6355080"/>
            <a:ext cx="11091672" cy="9144"/>
          </a:xfrm>
          <a:prstGeom prst="rect">
            <a:avLst/>
          </a:prstGeom>
          <a:solidFill>
            <a:srgbClr val="D5DDE8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Avio23  ·  Aeronautical Informatics  ·  DLR / TU Clausthal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292608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Avio23 running, right now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10698480" cy="3291840"/>
          </a:xfrm>
          <a:prstGeom prst="rect">
            <a:avLst/>
          </a:prstGeom>
          <a:solidFill>
            <a:srgbClr val="0A0F1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331720"/>
            <a:ext cx="164592" cy="164592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331720"/>
            <a:ext cx="164592" cy="164592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2331720"/>
            <a:ext cx="164592" cy="164592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402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avio23 — bash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606040"/>
            <a:ext cx="10332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D1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Creating sim_gateway, cpm_l_node, cpm_f_node, cpm_a_node, cpm_e_node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D1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logs -f sim_gateway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[sim_gateway] tx tank_l=247.3L tank_r=247.1L flow=0.10L/s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[cpm_f]      rx fuel_qty total=494.4L imbalance=0.2L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A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[cpm_f]      controller selected source=Left, age_since_switch=2.4s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[sim_gateway] tx tank_l=247.0L tank_r=247.1L flow=0.10L/s ...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D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your passing solution looks like by the end of the session.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WHY THIS COURSE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bother with IMA at all?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73152" cy="100584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240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how real cockpits are written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in Avio23 is the pattern in every modern commercial cockpit.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474720"/>
            <a:ext cx="73152" cy="100584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is the avionics skill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Allocating ports and slots is what distinguishes avionics from generic embedded.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754880"/>
            <a:ext cx="73152" cy="100584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800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learn the standards' vocabulary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5257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DO-297, ARP4754A, ARINC 653 — all written in the language you use today.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5943600"/>
            <a:ext cx="10698480" cy="411480"/>
          </a:xfrm>
          <a:prstGeom prst="rect">
            <a:avLst/>
          </a:prstGeom>
          <a:solidFill>
            <a:srgbClr val="0F1B2C"/>
          </a:solidFill>
          <a:ln w="12700">
            <a:solidFill>
              <a:srgbClr val="0F1B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9436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D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 isn't the algorithm — it's the constraints around it.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6355080"/>
            <a:ext cx="11091672" cy="9144"/>
          </a:xfrm>
          <a:prstGeom prst="rect">
            <a:avLst/>
          </a:prstGeom>
          <a:solidFill>
            <a:srgbClr val="D5DDE8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Avio23  ·  Aeronautical Informatics  ·  DLR / TU Clausthal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ASSIGNMENT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Fuel Management System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deliverables. Both graded automatically.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512064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743200"/>
            <a:ext cx="512064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fuel_controller partition to cpm_f.yaml. Pick a time window. Wire the sampling ports for sensors in and actuators out.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5212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File: </a:t>
            </a:r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cpm_f.yaml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5577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minutes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2743200"/>
            <a:ext cx="512064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2743200"/>
            <a:ext cx="512064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logic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83680" y="37033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select_source_tank(left, right, current, secs_since_switch) → Tank. Keep |L−R| ≤ 10 L. Respect the 0.8 s valve cooldown.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5212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File: </a:t>
            </a:r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src/controller.rs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5577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minutes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6355080"/>
            <a:ext cx="11091672" cy="9144"/>
          </a:xfrm>
          <a:prstGeom prst="rect">
            <a:avLst/>
          </a:prstGeom>
          <a:solidFill>
            <a:srgbClr val="D5DDE8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Avio23  ·  Aeronautical Informatics  ·  DLR / TU Clausthal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CONSTRAINTS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interesting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361188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33172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9319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tank imbalance under any flight condition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2194560"/>
            <a:ext cx="361188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233172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s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4617720" y="3520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39319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interval between pump-valve switches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3920" y="2194560"/>
            <a:ext cx="361188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A65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03920" y="233172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ms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8503920" y="3520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78240" y="39319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frame — controller is invoked every tick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solidFill>
            <a:srgbClr val="0F1B2C"/>
          </a:solidFill>
          <a:ln w="12700">
            <a:solidFill>
              <a:srgbClr val="0F1B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4864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interesting bit: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cooldown and the balance requirement are coupled. A naive </a:t>
            </a:r>
            <a:pPr indent="0" marL="0">
              <a:buNone/>
            </a:pPr>
            <a:r>
              <a:rPr lang="en-US" sz="1200" i="1" dirty="0">
                <a:solidFill>
                  <a:srgbClr val="9AD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"switch whenever imbalanced"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controller violates the cooldown. You have to think about state.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6355080"/>
            <a:ext cx="11091672" cy="9144"/>
          </a:xfrm>
          <a:prstGeom prst="rect">
            <a:avLst/>
          </a:prstGeom>
          <a:solidFill>
            <a:srgbClr val="D5DDE8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Avio23  ·  Aeronautical Informatics  ·  DLR / TU Clausthal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— TOOLCHAIN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laptop, nothing else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Validate your config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10698480" cy="457200"/>
          </a:xfrm>
          <a:prstGeom prst="rect">
            <a:avLst/>
          </a:prstGeom>
          <a:solidFill>
            <a:srgbClr val="0F1B2C"/>
          </a:solidFill>
          <a:ln w="12700">
            <a:solidFill>
              <a:srgbClr val="0F1B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60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D1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cargo run --bin test_bench -- --validate-config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missing partition entries, port mis-wiring, frame budget overruns.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Run a scenario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10698480" cy="457200"/>
          </a:xfrm>
          <a:prstGeom prst="rect">
            <a:avLst/>
          </a:prstGeom>
          <a:solidFill>
            <a:srgbClr val="0F1B2C"/>
          </a:solidFill>
          <a:ln w="12700">
            <a:solidFill>
              <a:srgbClr val="0F1B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49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D1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cargo run --bin test_bench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251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Replays a 600-s flight scenario; writes out/trace.csv for plotting.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572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Run the grader (= your grade)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solidFill>
            <a:srgbClr val="0F1B2C"/>
          </a:solidFill>
          <a:ln w="12700">
            <a:solidFill>
              <a:srgbClr val="0F1B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937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D1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cargo test --release -- --nocapture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5440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to what I'll run on your submission at the end of the session.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5852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Docker, no Linux VM, no AFDX setup on your laptop.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Rust crate. cargo run, cargo test. That's it.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6355080"/>
            <a:ext cx="11091672" cy="9144"/>
          </a:xfrm>
          <a:prstGeom prst="rect">
            <a:avLst/>
          </a:prstGeom>
          <a:solidFill>
            <a:srgbClr val="D5DDE8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Avio23  ·  Aeronautical Informatics  ·  DLR / TU Clausthal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— SCHEDULE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two hours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 – 0:20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21945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intro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149840" y="2331720"/>
            <a:ext cx="109728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10698480" cy="548640"/>
          </a:xfrm>
          <a:prstGeom prst="rect">
            <a:avLst/>
          </a:prstGeom>
          <a:solidFill>
            <a:srgbClr val="F4F7FA"/>
          </a:solidFill>
          <a:ln w="6350">
            <a:solidFill>
              <a:srgbClr val="D5DD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88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0:20 – 0:30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78892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briefing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149840" y="2926080"/>
            <a:ext cx="109728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4984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0:30 – 0:45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338328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Configuration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149840" y="3520440"/>
            <a:ext cx="1097280" cy="2743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49840" y="3520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977640"/>
            <a:ext cx="10698480" cy="548640"/>
          </a:xfrm>
          <a:prstGeom prst="rect">
            <a:avLst/>
          </a:prstGeom>
          <a:solidFill>
            <a:srgbClr val="F4F7FA"/>
          </a:solidFill>
          <a:ln w="6350">
            <a:solidFill>
              <a:srgbClr val="D5DD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977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0:45 – 1:25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83280" y="39776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Controller logic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149840" y="4114800"/>
            <a:ext cx="1097280" cy="2743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49840" y="4114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4572000"/>
            <a:ext cx="10698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572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1:25 – 1:50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83280" y="45720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+ live demo on the real stack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149840" y="4709160"/>
            <a:ext cx="109728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49840" y="4709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5166360"/>
            <a:ext cx="10698480" cy="548640"/>
          </a:xfrm>
          <a:prstGeom prst="rect">
            <a:avLst/>
          </a:prstGeom>
          <a:solidFill>
            <a:srgbClr val="F4F7FA"/>
          </a:solidFill>
          <a:ln w="6350">
            <a:solidFill>
              <a:srgbClr val="D5DD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5166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1:50 – 2:00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383280" y="51663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Wrap-up, grades, leave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0149840" y="5303520"/>
            <a:ext cx="109728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49840" y="5303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84048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let's go.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48640" y="6355080"/>
            <a:ext cx="11091672" cy="9144"/>
          </a:xfrm>
          <a:prstGeom prst="rect">
            <a:avLst/>
          </a:prstGeom>
          <a:solidFill>
            <a:srgbClr val="D5DDE8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Avio23  ·  Aeronautical Informatics  ·  DLR / TU Clausthal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2591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Avio23 — An IMA Teaching Platform</dc:title>
  <dc:subject>PptxGenJS Presentation</dc:subject>
  <dc:creator>apl. Prof. Dr.-Ing. Umut Durak</dc:creator>
  <cp:lastModifiedBy>apl. Prof. Dr.-Ing. Umut Durak</cp:lastModifiedBy>
  <cp:revision>1</cp:revision>
  <dcterms:created xsi:type="dcterms:W3CDTF">2026-06-03T19:27:42Z</dcterms:created>
  <dcterms:modified xsi:type="dcterms:W3CDTF">2026-06-03T19:27:42Z</dcterms:modified>
</cp:coreProperties>
</file>